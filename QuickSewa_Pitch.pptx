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E6FBF">
              <a:alpha val="25000"/>
            </a:srgbClr>
          </a:solidFill>
          <a:ln w="12700">
            <a:solidFill>
              <a:srgbClr val="1E6FBF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731520"/>
            <a:ext cx="2926080" cy="2926080"/>
          </a:xfrm>
          <a:prstGeom prst="ellipse">
            <a:avLst/>
          </a:prstGeom>
          <a:solidFill>
            <a:srgbClr val="0A9A7A">
              <a:alpha val="30000"/>
            </a:srgbClr>
          </a:solidFill>
          <a:ln w="12700">
            <a:solidFill>
              <a:srgbClr val="0A9A7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27AE60">
              <a:alpha val="20000"/>
            </a:srgbClr>
          </a:solidFill>
          <a:ln w="12700">
            <a:solidFill>
              <a:srgbClr val="27AE60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effectLst>
                  <a:glow rad="101600">
                    <a:srgbClr val="0A9A7A">
                      <a:alpha val="40000"/>
                    </a:srgb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QuickSewa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109728" cy="109728"/>
          </a:xfrm>
          <a:prstGeom prst="ellipse">
            <a:avLst/>
          </a:prstGeom>
          <a:solidFill>
            <a:srgbClr val="0A9A7A"/>
          </a:solidFill>
          <a:ln w="12700">
            <a:solidFill>
              <a:srgbClr val="0A9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Civic Issues in Seconds. Empower Communities.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2286000" cy="36576"/>
          </a:xfrm>
          <a:prstGeom prst="rect">
            <a:avLst/>
          </a:prstGeom>
          <a:solidFill>
            <a:srgbClr val="0A9A7A"/>
          </a:solidFill>
          <a:ln w="12700">
            <a:solidFill>
              <a:srgbClr val="0A9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74320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A9A7A"/>
          </a:solidFill>
          <a:ln w="12700">
            <a:solidFill>
              <a:srgbClr val="0A9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CivicTech Hackathon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0" y="274320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QuickSewa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1097280"/>
            <a:ext cx="731520" cy="731520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1188720"/>
            <a:ext cx="512064" cy="51206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635240" y="1280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223760" y="1874520"/>
            <a:ext cx="0" cy="320040"/>
          </a:xfrm>
          <a:prstGeom prst="line">
            <a:avLst/>
          </a:prstGeom>
          <a:noFill/>
          <a:ln w="25400">
            <a:solidFill>
              <a:srgbClr val="A8D4F5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6858000" y="2240280"/>
            <a:ext cx="731520" cy="731520"/>
          </a:xfrm>
          <a:prstGeom prst="ellipse">
            <a:avLst/>
          </a:prstGeom>
          <a:solidFill>
            <a:srgbClr val="0A9A7A"/>
          </a:solidFill>
          <a:ln w="12700">
            <a:solidFill>
              <a:srgbClr val="0A9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2331720"/>
            <a:ext cx="512064" cy="51206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635240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7223760" y="3017520"/>
            <a:ext cx="0" cy="320040"/>
          </a:xfrm>
          <a:prstGeom prst="line">
            <a:avLst/>
          </a:prstGeom>
          <a:noFill/>
          <a:ln w="25400">
            <a:solidFill>
              <a:srgbClr val="A8D4F5"/>
            </a:solidFill>
            <a:prstDash val="dash"/>
          </a:ln>
        </p:spPr>
      </p:sp>
      <p:sp>
        <p:nvSpPr>
          <p:cNvPr id="21" name="Shape 17"/>
          <p:cNvSpPr/>
          <p:nvPr/>
        </p:nvSpPr>
        <p:spPr>
          <a:xfrm>
            <a:off x="6858000" y="3383280"/>
            <a:ext cx="731520" cy="7315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3474720"/>
            <a:ext cx="512064" cy="5120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635240" y="3566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civic reporting accessible for every citizen.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issues remain unaddressed due to broken reporting systems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Face Daily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EBF3FB"/>
          </a:solidFill>
          <a:ln w="12700">
            <a:solidFill>
              <a:srgbClr val="BDD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904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508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2075688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EBF3FB"/>
          </a:solidFill>
          <a:ln w="12700">
            <a:solidFill>
              <a:srgbClr val="BDD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14884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1671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65760" y="2734056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EBF3FB"/>
          </a:solidFill>
          <a:ln w="12700">
            <a:solidFill>
              <a:srgbClr val="BDD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807208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28254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Streetlights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365760" y="3392424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EBF3FB"/>
          </a:solidFill>
          <a:ln w="12700">
            <a:solidFill>
              <a:srgbClr val="BDD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465576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34838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Leakage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Fail Because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846320" y="1417320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FCE8E6"/>
          </a:solidFill>
          <a:ln w="12700">
            <a:solidFill>
              <a:srgbClr val="F5C6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490472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532120" y="15087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lengthy forms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4846320" y="2075688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FEF3CD"/>
          </a:solidFill>
          <a:ln w="12700">
            <a:solidFill>
              <a:srgbClr val="F5C6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148840"/>
            <a:ext cx="347472" cy="34747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532120" y="216712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4846320" y="2734056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FCE8E6"/>
          </a:solidFill>
          <a:ln w="12700">
            <a:solidFill>
              <a:srgbClr val="F5C6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807208"/>
            <a:ext cx="347472" cy="34747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532120" y="282549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departments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4846320" y="3392424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FEF3CD"/>
          </a:solidFill>
          <a:ln w="12700">
            <a:solidFill>
              <a:srgbClr val="F5C6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465576"/>
            <a:ext cx="347472" cy="34747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532120" y="348386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time required</a:t>
            </a:r>
            <a:endParaRPr lang="en-US" sz="1400" dirty="0"/>
          </a:p>
        </p:txBody>
      </p:sp>
      <p:sp>
        <p:nvSpPr>
          <p:cNvPr id="31" name="Shape 21"/>
          <p:cNvSpPr/>
          <p:nvPr/>
        </p:nvSpPr>
        <p:spPr>
          <a:xfrm>
            <a:off x="0" y="4617720"/>
            <a:ext cx="9144000" cy="5212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22"/>
          <p:cNvSpPr/>
          <p:nvPr/>
        </p:nvSpPr>
        <p:spPr>
          <a:xfrm>
            <a:off x="0" y="4617720"/>
            <a:ext cx="9144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"Reporting civic issues is often harder than the issue itself."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9A7A"/>
          </a:solidFill>
          <a:ln w="12700">
            <a:solidFill>
              <a:srgbClr val="0A9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QuickSewa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simple steps. Zero typing required.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737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63040"/>
            <a:ext cx="1737360" cy="164592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1664208"/>
            <a:ext cx="685800" cy="685800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1764792"/>
            <a:ext cx="466344" cy="4663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7512" y="245059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7512" y="29260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or select an image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368296" y="2377440"/>
            <a:ext cx="347472" cy="0"/>
          </a:xfrm>
          <a:prstGeom prst="line">
            <a:avLst/>
          </a:prstGeom>
          <a:noFill/>
          <a:ln w="25400">
            <a:solidFill>
              <a:srgbClr val="0A9A7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8716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697480" y="1463040"/>
            <a:ext cx="1737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697480" y="1463040"/>
            <a:ext cx="1737360" cy="164592"/>
          </a:xfrm>
          <a:prstGeom prst="rect">
            <a:avLst/>
          </a:prstGeom>
          <a:solidFill>
            <a:srgbClr val="0A9A7A"/>
          </a:solidFill>
          <a:ln w="12700">
            <a:solidFill>
              <a:srgbClr val="0A9A7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70632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00400" y="1664208"/>
            <a:ext cx="685800" cy="685800"/>
          </a:xfrm>
          <a:prstGeom prst="ellipse">
            <a:avLst/>
          </a:prstGeom>
          <a:solidFill>
            <a:srgbClr val="0A9A7A"/>
          </a:solidFill>
          <a:ln w="12700">
            <a:solidFill>
              <a:srgbClr val="0A9A7A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764792"/>
            <a:ext cx="466344" cy="4663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770632" y="245059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Issue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2770632" y="29260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from categories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471416" y="2377440"/>
            <a:ext cx="347472" cy="0"/>
          </a:xfrm>
          <a:prstGeom prst="line">
            <a:avLst/>
          </a:prstGeom>
          <a:noFill/>
          <a:ln w="25400">
            <a:solidFill>
              <a:srgbClr val="0A9A7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59028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800600" y="1463040"/>
            <a:ext cx="1737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800600" y="1463040"/>
            <a:ext cx="1737360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873752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5303520" y="1664208"/>
            <a:ext cx="685800" cy="6858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764792"/>
            <a:ext cx="466344" cy="4663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873752" y="245059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Location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4873752" y="29260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GPS detection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574536" y="2377440"/>
            <a:ext cx="347472" cy="0"/>
          </a:xfrm>
          <a:prstGeom prst="line">
            <a:avLst/>
          </a:prstGeom>
          <a:noFill/>
          <a:ln w="25400">
            <a:solidFill>
              <a:srgbClr val="0A9A7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69340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6903720" y="1463040"/>
            <a:ext cx="1737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903720" y="1463040"/>
            <a:ext cx="1737360" cy="16459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976872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Shape 30"/>
          <p:cNvSpPr/>
          <p:nvPr/>
        </p:nvSpPr>
        <p:spPr>
          <a:xfrm>
            <a:off x="7406640" y="1664208"/>
            <a:ext cx="685800" cy="68580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1764792"/>
            <a:ext cx="466344" cy="46634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976872" y="245059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Complaint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6976872" y="29260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confirmation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3017520" y="4114800"/>
            <a:ext cx="3108960" cy="457200"/>
          </a:xfrm>
          <a:prstGeom prst="roundRect">
            <a:avLst>
              <a:gd name="adj" fmla="val 20000"/>
            </a:avLst>
          </a:prstGeom>
          <a:solidFill>
            <a:srgbClr val="0A9A7A"/>
          </a:solidFill>
          <a:ln w="12700">
            <a:solidFill>
              <a:srgbClr val="0A9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Text 34"/>
          <p:cNvSpPr/>
          <p:nvPr/>
        </p:nvSpPr>
        <p:spPr>
          <a:xfrm>
            <a:off x="3017520" y="4114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typing required.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Everyone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3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features designed for accessibility and accountability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743200" cy="128016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99032"/>
            <a:ext cx="566928" cy="566928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Telugu, Hindi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1430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143000"/>
            <a:ext cx="2743200" cy="128016"/>
          </a:xfrm>
          <a:prstGeom prst="rect">
            <a:avLst/>
          </a:prstGeom>
          <a:solidFill>
            <a:srgbClr val="0A9A7A"/>
          </a:solidFill>
          <a:ln w="12700">
            <a:solidFill>
              <a:srgbClr val="0A9A7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10712" y="1399032"/>
            <a:ext cx="566928" cy="566928"/>
          </a:xfrm>
          <a:prstGeom prst="ellipse">
            <a:avLst/>
          </a:prstGeom>
          <a:solidFill>
            <a:srgbClr val="0A9A7A"/>
          </a:solidFill>
          <a:ln w="12700">
            <a:solidFill>
              <a:srgbClr val="0A9A7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481328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6908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Photo-Based Reporting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06908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Visual-first approach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72200" y="11430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72200" y="1143000"/>
            <a:ext cx="2743200" cy="1280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36792" y="1399032"/>
            <a:ext cx="566928" cy="5669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481328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9516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Location Capture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99516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geolocation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20040" y="30175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20040" y="3017520"/>
            <a:ext cx="2743200" cy="12801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84632" y="3273552"/>
            <a:ext cx="566928" cy="56692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355848"/>
            <a:ext cx="402336" cy="4023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43000" y="3246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Complaint Gen.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14300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complaints auto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246120" y="30175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46120" y="3017520"/>
            <a:ext cx="2743200" cy="12801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410712" y="3273552"/>
            <a:ext cx="566928" cy="5669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3355848"/>
            <a:ext cx="402336" cy="40233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069080" y="3246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Tracking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06908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updates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172200" y="30175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172200" y="3017520"/>
            <a:ext cx="2743200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336792" y="3273552"/>
            <a:ext cx="566928" cy="5669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3355848"/>
            <a:ext cx="402336" cy="40233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995160" y="3246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Accountability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99516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issue map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complaint travels from citizen to resolution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5320" y="1554480"/>
            <a:ext cx="822960" cy="822960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0" y="1673352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468880"/>
            <a:ext cx="131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2852928"/>
            <a:ext cx="131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issue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447800" y="1965960"/>
            <a:ext cx="566928" cy="0"/>
          </a:xfrm>
          <a:prstGeom prst="line">
            <a:avLst/>
          </a:prstGeom>
          <a:noFill/>
          <a:ln w="25400">
            <a:solidFill>
              <a:srgbClr val="1E6F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49552" y="185623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057400" y="1554480"/>
            <a:ext cx="822960" cy="822960"/>
          </a:xfrm>
          <a:prstGeom prst="ellipse">
            <a:avLst/>
          </a:prstGeom>
          <a:solidFill>
            <a:srgbClr val="0A9A7A"/>
          </a:solidFill>
          <a:ln w="12700">
            <a:solidFill>
              <a:srgbClr val="0A9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673352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13560" y="2468880"/>
            <a:ext cx="131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QuickSewa App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813560" y="2852928"/>
            <a:ext cx="131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categorize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849880" y="1965960"/>
            <a:ext cx="566928" cy="0"/>
          </a:xfrm>
          <a:prstGeom prst="line">
            <a:avLst/>
          </a:prstGeom>
          <a:noFill/>
          <a:ln w="25400">
            <a:solidFill>
              <a:srgbClr val="1E6FB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151632" y="185623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3459480" y="1554480"/>
            <a:ext cx="822960" cy="8229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6640" y="1673352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215640" y="2468880"/>
            <a:ext cx="131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215640" y="2852928"/>
            <a:ext cx="131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securely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251960" y="1965960"/>
            <a:ext cx="566928" cy="0"/>
          </a:xfrm>
          <a:prstGeom prst="line">
            <a:avLst/>
          </a:prstGeom>
          <a:noFill/>
          <a:ln w="25400">
            <a:solidFill>
              <a:srgbClr val="1E6FB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553712" y="185623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861560" y="1554480"/>
            <a:ext cx="822960" cy="82296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720" y="1673352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617720" y="2468880"/>
            <a:ext cx="131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617720" y="2852928"/>
            <a:ext cx="131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assign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654040" y="1965960"/>
            <a:ext cx="566928" cy="0"/>
          </a:xfrm>
          <a:prstGeom prst="line">
            <a:avLst/>
          </a:prstGeom>
          <a:noFill/>
          <a:ln w="25400">
            <a:solidFill>
              <a:srgbClr val="1E6FB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955792" y="185623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6263640" y="1554480"/>
            <a:ext cx="822960" cy="82296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673352"/>
            <a:ext cx="548640" cy="5486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019800" y="2468880"/>
            <a:ext cx="131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Action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6019800" y="2852928"/>
            <a:ext cx="131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team deployed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7056120" y="1965960"/>
            <a:ext cx="566928" cy="0"/>
          </a:xfrm>
          <a:prstGeom prst="line">
            <a:avLst/>
          </a:prstGeom>
          <a:noFill/>
          <a:ln w="25400">
            <a:solidFill>
              <a:srgbClr val="1E6FBF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7357872" y="185623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7665720" y="1554480"/>
            <a:ext cx="822960" cy="8229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2880" y="1673352"/>
            <a:ext cx="548640" cy="54864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421880" y="2468880"/>
            <a:ext cx="131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Resolved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7421880" y="2852928"/>
            <a:ext cx="131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notified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365760" y="324612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EBF3FB"/>
          </a:solidFill>
          <a:ln w="12700">
            <a:solidFill>
              <a:srgbClr val="BDD5EE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4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QuickSewa acts as the intelligent bridge between citizens and authorities — automating, routing and tracking every complaint.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9A7A"/>
          </a:solidFill>
          <a:ln w="12700">
            <a:solidFill>
              <a:srgbClr val="0A9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Accessibility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Simple. Fast. Inclusive.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468880" cy="3931920"/>
          </a:xfrm>
          <a:prstGeom prst="roundRect">
            <a:avLst>
              <a:gd name="adj" fmla="val 9259"/>
            </a:avLst>
          </a:prstGeom>
          <a:solidFill>
            <a:srgbClr val="2C3E50"/>
          </a:solidFill>
          <a:ln w="25400">
            <a:solidFill>
              <a:srgbClr val="1A25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25880"/>
            <a:ext cx="2194560" cy="32461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25880"/>
            <a:ext cx="2194560" cy="438912"/>
          </a:xfrm>
          <a:prstGeom prst="rect">
            <a:avLst/>
          </a:prstGeom>
          <a:solidFill>
            <a:srgbClr val="0A9A7A"/>
          </a:solidFill>
          <a:ln w="12700">
            <a:solidFill>
              <a:srgbClr val="0A9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QuickSewa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960120" cy="548640"/>
          </a:xfrm>
          <a:prstGeom prst="roundRect">
            <a:avLst>
              <a:gd name="adj" fmla="val 11667"/>
            </a:avLst>
          </a:prstGeom>
          <a:solidFill>
            <a:srgbClr val="EBF3FB"/>
          </a:solidFill>
          <a:ln w="12700">
            <a:solidFill>
              <a:srgbClr val="BDD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202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Pothole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91640" y="1920240"/>
            <a:ext cx="960120" cy="548640"/>
          </a:xfrm>
          <a:prstGeom prst="roundRect">
            <a:avLst>
              <a:gd name="adj" fmla="val 11667"/>
            </a:avLst>
          </a:prstGeom>
          <a:solidFill>
            <a:srgbClr val="EBF3FB"/>
          </a:solidFill>
          <a:ln w="12700">
            <a:solidFill>
              <a:srgbClr val="BDD5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19202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Garbage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606040"/>
            <a:ext cx="960120" cy="548640"/>
          </a:xfrm>
          <a:prstGeom prst="roundRect">
            <a:avLst>
              <a:gd name="adj" fmla="val 11667"/>
            </a:avLst>
          </a:prstGeom>
          <a:solidFill>
            <a:srgbClr val="EBF3FB"/>
          </a:solidFill>
          <a:ln w="12700">
            <a:solidFill>
              <a:srgbClr val="BDD5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060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Streetlight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91640" y="2606040"/>
            <a:ext cx="960120" cy="548640"/>
          </a:xfrm>
          <a:prstGeom prst="roundRect">
            <a:avLst>
              <a:gd name="adj" fmla="val 11667"/>
            </a:avLst>
          </a:prstGeom>
          <a:solidFill>
            <a:srgbClr val="EBF3FB"/>
          </a:solidFill>
          <a:ln w="12700">
            <a:solidFill>
              <a:srgbClr val="BDD5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26060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Water Leak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3703320"/>
            <a:ext cx="2194560" cy="502920"/>
          </a:xfrm>
          <a:prstGeom prst="rect">
            <a:avLst/>
          </a:prstGeom>
          <a:solidFill>
            <a:srgbClr val="F0FBF7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03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QS-2026-000001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UX Principles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91840" y="1600200"/>
            <a:ext cx="5486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1600200"/>
            <a:ext cx="73152" cy="530352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01568" y="1673352"/>
            <a:ext cx="384048" cy="384048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5576" y="1728216"/>
            <a:ext cx="256032" cy="25603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3858768" y="16916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required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291840" y="2240280"/>
            <a:ext cx="5486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291840" y="2240280"/>
            <a:ext cx="73152" cy="530352"/>
          </a:xfrm>
          <a:prstGeom prst="rect">
            <a:avLst/>
          </a:prstGeom>
          <a:solidFill>
            <a:srgbClr val="0A9A7A"/>
          </a:solidFill>
          <a:ln w="12700">
            <a:solidFill>
              <a:srgbClr val="0A9A7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401568" y="2313432"/>
            <a:ext cx="384048" cy="384048"/>
          </a:xfrm>
          <a:prstGeom prst="ellipse">
            <a:avLst/>
          </a:prstGeom>
          <a:solidFill>
            <a:srgbClr val="0A9A7A"/>
          </a:solidFill>
          <a:ln w="12700">
            <a:solidFill>
              <a:srgbClr val="0A9A7A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76" y="2368296"/>
            <a:ext cx="256032" cy="25603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858768" y="23317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interface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3291840" y="2880360"/>
            <a:ext cx="5486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3291840" y="2880360"/>
            <a:ext cx="73152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401568" y="2953512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576" y="3008376"/>
            <a:ext cx="256032" cy="25603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3858768" y="29718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accessible buttons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3291840" y="3520440"/>
            <a:ext cx="5486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3291840" y="3520440"/>
            <a:ext cx="73152" cy="5303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3401568" y="3593592"/>
            <a:ext cx="384048" cy="38404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576" y="3648456"/>
            <a:ext cx="256032" cy="25603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3858768" y="36118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Complaint ID generated</a:t>
            </a:r>
            <a:endParaRPr lang="en-US" sz="1300" dirty="0"/>
          </a:p>
        </p:txBody>
      </p:sp>
      <p:sp>
        <p:nvSpPr>
          <p:cNvPr id="40" name="Shape 34"/>
          <p:cNvSpPr/>
          <p:nvPr/>
        </p:nvSpPr>
        <p:spPr>
          <a:xfrm>
            <a:off x="3291840" y="4160520"/>
            <a:ext cx="5486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3291840" y="4160520"/>
            <a:ext cx="73152" cy="5303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3401568" y="4233672"/>
            <a:ext cx="384048" cy="3840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576" y="4288536"/>
            <a:ext cx="256032" cy="256032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3858768" y="42519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non-English speakers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Authorities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3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for complaint management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1965960" cy="128016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3385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63677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05840"/>
            <a:ext cx="1965960" cy="12801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13385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68880" y="163677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100584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005840"/>
            <a:ext cx="1965960" cy="12801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13385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17720" y="163677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100584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005840"/>
            <a:ext cx="1965960" cy="1280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13385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446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66560" y="163677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148840"/>
            <a:ext cx="85039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1762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ID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57400" y="21762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Type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03320" y="21762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15000" y="21762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60920" y="21762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2532888"/>
            <a:ext cx="8503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5877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QS-2026-001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57400" y="25877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03320" y="2587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Banjara Hills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15000" y="25877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60920" y="25877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→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3035808"/>
            <a:ext cx="8503920" cy="457200"/>
          </a:xfrm>
          <a:prstGeom prst="rect">
            <a:avLst/>
          </a:prstGeom>
          <a:solidFill>
            <a:srgbClr val="F5F9FF"/>
          </a:solidFill>
          <a:ln w="12700">
            <a:solidFill>
              <a:srgbClr val="E0EA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0906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QS-2026-002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057400" y="30906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703320" y="30906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Kukatpally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715000" y="30906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60920" y="30906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→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3538728"/>
            <a:ext cx="8503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5935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QS-2026-003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057400" y="35935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Streetlight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703320" y="35935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Madhapur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715000" y="35935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60920" y="35935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✓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" y="4572000"/>
            <a:ext cx="1965960" cy="411480"/>
          </a:xfrm>
          <a:prstGeom prst="roundRect">
            <a:avLst>
              <a:gd name="adj" fmla="val 15556"/>
            </a:avLst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572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Tracking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468880" y="4572000"/>
            <a:ext cx="1965960" cy="411480"/>
          </a:xfrm>
          <a:prstGeom prst="roundRect">
            <a:avLst>
              <a:gd name="adj" fmla="val 15556"/>
            </a:avLst>
          </a:prstGeom>
          <a:solidFill>
            <a:srgbClr val="0A9A7A"/>
          </a:solidFill>
          <a:ln w="12700">
            <a:solidFill>
              <a:srgbClr val="0A9A7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68880" y="4572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17720" y="4572000"/>
            <a:ext cx="1965960" cy="411480"/>
          </a:xfrm>
          <a:prstGeom prst="roundRect">
            <a:avLst>
              <a:gd name="adj" fmla="val 15556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17720" y="4572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766560" y="4572000"/>
            <a:ext cx="1965960" cy="411480"/>
          </a:xfrm>
          <a:prstGeom prst="roundRect">
            <a:avLst>
              <a:gd name="adj" fmla="val 15556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66560" y="4572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ID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QuickSewa Stands Out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improvement over existing civic reporting tools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74320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D8E6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005840"/>
            <a:ext cx="274320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D8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051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005840"/>
            <a:ext cx="2743200" cy="438912"/>
          </a:xfrm>
          <a:prstGeom prst="rect">
            <a:avLst/>
          </a:prstGeom>
          <a:solidFill>
            <a:srgbClr val="0A9A7A"/>
          </a:solidFill>
          <a:ln w="12700">
            <a:solidFill>
              <a:srgbClr val="D8E6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051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QuickSewa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463040"/>
            <a:ext cx="2743200" cy="438912"/>
          </a:xfrm>
          <a:prstGeom prst="rect">
            <a:avLst/>
          </a:prstGeom>
          <a:solidFill>
            <a:srgbClr val="F5F9FF"/>
          </a:solidFill>
          <a:ln w="12700">
            <a:solidFill>
              <a:srgbClr val="D8E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08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Method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1463040"/>
            <a:ext cx="2743200" cy="438912"/>
          </a:xfrm>
          <a:prstGeom prst="rect">
            <a:avLst/>
          </a:prstGeom>
          <a:solidFill>
            <a:srgbClr val="FFF0EF"/>
          </a:solidFill>
          <a:ln w="12700">
            <a:solidFill>
              <a:srgbClr val="D8E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508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text forms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743200" cy="438912"/>
          </a:xfrm>
          <a:prstGeom prst="rect">
            <a:avLst/>
          </a:prstGeom>
          <a:solidFill>
            <a:srgbClr val="F0FBF7"/>
          </a:solidFill>
          <a:ln w="12700">
            <a:solidFill>
              <a:srgbClr val="D8E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508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Photo-first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192024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965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Support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37560" y="1920240"/>
            <a:ext cx="2743200" cy="438912"/>
          </a:xfrm>
          <a:prstGeom prst="rect">
            <a:avLst/>
          </a:prstGeom>
          <a:solidFill>
            <a:srgbClr val="FFF0EF"/>
          </a:solidFill>
          <a:ln w="12700">
            <a:solidFill>
              <a:srgbClr val="D8E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1965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only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920240"/>
            <a:ext cx="2743200" cy="438912"/>
          </a:xfrm>
          <a:prstGeom prst="rect">
            <a:avLst/>
          </a:prstGeom>
          <a:solidFill>
            <a:srgbClr val="F0FBF7"/>
          </a:solidFill>
          <a:ln w="12700">
            <a:solidFill>
              <a:srgbClr val="D8E6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965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EN, TE, HI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377440"/>
            <a:ext cx="2743200" cy="438912"/>
          </a:xfrm>
          <a:prstGeom prst="rect">
            <a:avLst/>
          </a:prstGeom>
          <a:solidFill>
            <a:srgbClr val="F5F9FF"/>
          </a:solidFill>
          <a:ln w="12700">
            <a:solidFill>
              <a:srgbClr val="D8E6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423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37560" y="2377440"/>
            <a:ext cx="2743200" cy="438912"/>
          </a:xfrm>
          <a:prstGeom prst="rect">
            <a:avLst/>
          </a:prstGeom>
          <a:solidFill>
            <a:srgbClr val="FFF0EF"/>
          </a:solidFill>
          <a:ln w="12700">
            <a:solidFill>
              <a:srgbClr val="D8E6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2423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address entry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2377440"/>
            <a:ext cx="2743200" cy="438912"/>
          </a:xfrm>
          <a:prstGeom prst="rect">
            <a:avLst/>
          </a:prstGeom>
          <a:solidFill>
            <a:srgbClr val="F0FBF7"/>
          </a:solidFill>
          <a:ln w="12700">
            <a:solidFill>
              <a:srgbClr val="D8E6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423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Auto GPS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283464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880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Tracking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37560" y="2834640"/>
            <a:ext cx="2743200" cy="438912"/>
          </a:xfrm>
          <a:prstGeom prst="rect">
            <a:avLst/>
          </a:prstGeom>
          <a:solidFill>
            <a:srgbClr val="FFF0EF"/>
          </a:solidFill>
          <a:ln w="12700">
            <a:solidFill>
              <a:srgbClr val="D8E6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29000" y="2880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/ Limited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0" y="2834640"/>
            <a:ext cx="2743200" cy="438912"/>
          </a:xfrm>
          <a:prstGeom prst="rect">
            <a:avLst/>
          </a:prstGeom>
          <a:solidFill>
            <a:srgbClr val="F0FBF7"/>
          </a:solidFill>
          <a:ln w="12700">
            <a:solidFill>
              <a:srgbClr val="D8E6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2880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Real-time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291840"/>
            <a:ext cx="2743200" cy="438912"/>
          </a:xfrm>
          <a:prstGeom prst="rect">
            <a:avLst/>
          </a:prstGeom>
          <a:solidFill>
            <a:srgbClr val="F5F9FF"/>
          </a:solidFill>
          <a:ln w="12700">
            <a:solidFill>
              <a:srgbClr val="D8E6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337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37560" y="3291840"/>
            <a:ext cx="2743200" cy="438912"/>
          </a:xfrm>
          <a:prstGeom prst="rect">
            <a:avLst/>
          </a:prstGeom>
          <a:solidFill>
            <a:srgbClr val="FFF0EF"/>
          </a:solidFill>
          <a:ln w="12700">
            <a:solidFill>
              <a:srgbClr val="D8E6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29000" y="3337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Technically complex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0" y="3291840"/>
            <a:ext cx="2743200" cy="438912"/>
          </a:xfrm>
          <a:prstGeom prst="rect">
            <a:avLst/>
          </a:prstGeom>
          <a:solidFill>
            <a:srgbClr val="F0FBF7"/>
          </a:solidFill>
          <a:ln w="12700">
            <a:solidFill>
              <a:srgbClr val="D8E6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3337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 login needed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374904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794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337560" y="3749040"/>
            <a:ext cx="2743200" cy="438912"/>
          </a:xfrm>
          <a:prstGeom prst="rect">
            <a:avLst/>
          </a:prstGeom>
          <a:solidFill>
            <a:srgbClr val="FFF0EF"/>
          </a:solidFill>
          <a:ln w="12700">
            <a:solidFill>
              <a:srgbClr val="D8E6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29000" y="3794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process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217920" y="3749040"/>
            <a:ext cx="2743200" cy="438912"/>
          </a:xfrm>
          <a:prstGeom prst="rect">
            <a:avLst/>
          </a:prstGeom>
          <a:solidFill>
            <a:srgbClr val="F0FBF7"/>
          </a:solidFill>
          <a:ln w="12700">
            <a:solidFill>
              <a:srgbClr val="D8E6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3794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Public map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D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coming next for QuickSewa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743200" cy="128016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98448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EEE8F8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316736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40280" y="1280160"/>
            <a:ext cx="566928" cy="566928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2576" y="1362456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1691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Issue Detection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" y="2103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issue type from images using computer vision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10972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1097280"/>
            <a:ext cx="2743200" cy="128016"/>
          </a:xfrm>
          <a:prstGeom prst="rect">
            <a:avLst/>
          </a:prstGeom>
          <a:solidFill>
            <a:srgbClr val="0A9A7A"/>
          </a:solidFill>
          <a:ln w="12700">
            <a:solidFill>
              <a:srgbClr val="0A9A7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37560" y="1298448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EEE8F8"/>
          </a:solidFill>
          <a:ln w="12700">
            <a:solidFill>
              <a:srgbClr val="0A9A7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55848" y="1316736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166360" y="1280160"/>
            <a:ext cx="566928" cy="566928"/>
          </a:xfrm>
          <a:prstGeom prst="ellipse">
            <a:avLst/>
          </a:prstGeom>
          <a:solidFill>
            <a:srgbClr val="0A9A7A"/>
          </a:solidFill>
          <a:ln w="12700">
            <a:solidFill>
              <a:srgbClr val="0A9A7A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656" y="1362456"/>
            <a:ext cx="402336" cy="4023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337560" y="1691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Reporting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337560" y="2103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issues using voice in regional languages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172200" y="10972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72200" y="1097280"/>
            <a:ext cx="2743200" cy="1280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63640" y="1298448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EEE8F8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81928" y="1316736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8092440" y="1280160"/>
            <a:ext cx="566928" cy="5669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1362456"/>
            <a:ext cx="402336" cy="40233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263640" y="1691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263640" y="2103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deduplication of similar complaints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320040" y="30175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20040" y="3017520"/>
            <a:ext cx="2743200" cy="12801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11480" y="3218688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EEE8F8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29768" y="3236976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2240280" y="3200400"/>
            <a:ext cx="566928" cy="5669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576" y="3282696"/>
            <a:ext cx="402336" cy="40233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411480" y="3611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Scoring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41148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urgency scoring for faster resolution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3246120" y="30175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3246120" y="3017520"/>
            <a:ext cx="2743200" cy="128016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3337560" y="3218688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EEE8F8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3355848" y="3236976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5166360" y="3200400"/>
            <a:ext cx="566928" cy="566928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8656" y="3282696"/>
            <a:ext cx="402336" cy="402336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3337560" y="3611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Alerts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333756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updates via WhatsApp notifications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6172200" y="30175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6172200" y="3017520"/>
            <a:ext cx="2743200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6263640" y="3218688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EEE8F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6281928" y="3236976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8092440" y="3200400"/>
            <a:ext cx="566928" cy="5669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4736" y="3282696"/>
            <a:ext cx="402336" cy="402336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6263640" y="3611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Integration</a:t>
            </a:r>
            <a:endParaRPr lang="en-US" sz="1300" dirty="0"/>
          </a:p>
        </p:txBody>
      </p:sp>
      <p:sp>
        <p:nvSpPr>
          <p:cNvPr id="52" name="Text 44"/>
          <p:cNvSpPr/>
          <p:nvPr/>
        </p:nvSpPr>
        <p:spPr>
          <a:xfrm>
            <a:off x="626364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API integration with government systems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E6FBF">
              <a:alpha val="25000"/>
            </a:srgbClr>
          </a:solidFill>
          <a:ln w="12700">
            <a:solidFill>
              <a:srgbClr val="1E6FBF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A9A7A">
              <a:alpha val="25000"/>
            </a:srgbClr>
          </a:solidFill>
          <a:ln w="12700">
            <a:solidFill>
              <a:srgbClr val="0A9A7A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citizen deserves a simple way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5ED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 their community."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7315200" cy="1371600"/>
          </a:xfrm>
          <a:prstGeom prst="rect">
            <a:avLst/>
          </a:prstGeom>
          <a:solidFill>
            <a:srgbClr val="1E3A5A"/>
          </a:solidFill>
          <a:ln w="12700">
            <a:solidFill>
              <a:srgbClr val="2A52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920240"/>
            <a:ext cx="73152" cy="1371600"/>
          </a:xfrm>
          <a:prstGeom prst="rect">
            <a:avLst/>
          </a:prstGeom>
          <a:solidFill>
            <a:srgbClr val="0A9A7A"/>
          </a:solidFill>
          <a:ln w="12700">
            <a:solidFill>
              <a:srgbClr val="0A9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6596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D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QuickSewa Vision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3317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create an accessible civic reporting platform where every citizen can participate regardless of language, literacy, or technical expertise.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3474720"/>
            <a:ext cx="822960" cy="822960"/>
          </a:xfrm>
          <a:prstGeom prst="ellipse">
            <a:avLst/>
          </a:prstGeom>
          <a:solidFill>
            <a:srgbClr val="1E3A5A"/>
          </a:solidFill>
          <a:ln w="25400">
            <a:solidFill>
              <a:srgbClr val="2A528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3566160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0160" y="43708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212848" y="3858768"/>
            <a:ext cx="1234440" cy="0"/>
          </a:xfrm>
          <a:prstGeom prst="line">
            <a:avLst/>
          </a:prstGeom>
          <a:noFill/>
          <a:ln w="25400">
            <a:solidFill>
              <a:srgbClr val="0A9A7A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3886200" y="3474720"/>
            <a:ext cx="822960" cy="822960"/>
          </a:xfrm>
          <a:prstGeom prst="ellipse">
            <a:avLst/>
          </a:prstGeom>
          <a:solidFill>
            <a:srgbClr val="1E3A5A"/>
          </a:solidFill>
          <a:ln w="25400">
            <a:solidFill>
              <a:srgbClr val="0A9A7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356616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94760" y="43708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QuickSewa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727448" y="3858768"/>
            <a:ext cx="1234440" cy="0"/>
          </a:xfrm>
          <a:prstGeom prst="line">
            <a:avLst/>
          </a:prstGeom>
          <a:noFill/>
          <a:ln w="25400">
            <a:solidFill>
              <a:srgbClr val="0A9A7A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6400800" y="3474720"/>
            <a:ext cx="822960" cy="822960"/>
          </a:xfrm>
          <a:prstGeom prst="ellipse">
            <a:avLst/>
          </a:prstGeom>
          <a:solidFill>
            <a:srgbClr val="1E3A5A"/>
          </a:solidFill>
          <a:ln w="25400">
            <a:solidFill>
              <a:srgbClr val="2A528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56616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43708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0A9A7A"/>
          </a:solidFill>
          <a:ln w="12700">
            <a:solidFill>
              <a:srgbClr val="0A9A7A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QuickSewa - CivicTech Hackathon</dc:title>
  <dc:subject>PptxGenJS Presentation</dc:subject>
  <dc:creator>PptxGenJS</dc:creator>
  <cp:lastModifiedBy>PptxGenJS</cp:lastModifiedBy>
  <cp:revision>1</cp:revision>
  <dcterms:created xsi:type="dcterms:W3CDTF">2026-05-31T06:48:25Z</dcterms:created>
  <dcterms:modified xsi:type="dcterms:W3CDTF">2026-05-31T06:48:25Z</dcterms:modified>
</cp:coreProperties>
</file>